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49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88920"/>
            <a:ext cx="12191695" cy="64008"/>
          </a:xfrm>
          <a:prstGeom prst="rect">
            <a:avLst/>
          </a:prstGeom>
          <a:solidFill>
            <a:srgbClr val="FACE00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40080"/>
            <a:ext cx="914400" cy="914400"/>
          </a:xfrm>
          <a:prstGeom prst="ellipse">
            <a:avLst/>
          </a:prstGeom>
          <a:solidFill>
            <a:srgbClr val="FACE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Waiting Room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58368" y="3886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DD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Presence-aware fair-hearing flow + in-house video conferencing for New York State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8368" y="4572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OTDA · DOH · OCFS   |   Integrated Eligibility System (IES)   |   Built on the NYS Design System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5497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ACE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"/>
            <a:ext cx="10515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WebEx gives you a room — not a hearing workflow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NYS Virtual Waiting Room  ·  Hackathon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55778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NYS runs virtual fair hearings for OTDA, DOH &amp; OCFS on Cisco WebEx/CMR.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WebEx provides a generic "waiting room" + "meeting room" — but cannot record PRESENCE.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way to know who has checked in or who is ready for the hearing.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rule that a hearing only starts when ALL required parties — including the judge — are available.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Judges get no roster; supervisors get no oversight; nobody gets an audit trail.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this is run by phone calls, spreadsheets, and guesswork.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92240" y="1554480"/>
            <a:ext cx="5120640" cy="1097280"/>
          </a:xfrm>
          <a:prstGeom prst="roundRect">
            <a:avLst>
              <a:gd name="adj" fmla="val 5000"/>
            </a:avLst>
          </a:prstGeom>
          <a:solidFill>
            <a:srgbClr val="F6F6F6"/>
          </a:solidFill>
          <a:ln w="12700">
            <a:solidFill>
              <a:srgbClr val="D0D0CE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3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Appellant logs in to a blank waiting room —</a:t>
            </a:r>
            <a:endParaRPr lang="en-US" sz="13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3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interpreter here? Is the judge ready?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92240" y="2788920"/>
            <a:ext cx="5120640" cy="1097280"/>
          </a:xfrm>
          <a:prstGeom prst="roundRect">
            <a:avLst>
              <a:gd name="adj" fmla="val 5000"/>
            </a:avLst>
          </a:prstGeom>
          <a:solidFill>
            <a:srgbClr val="F6F6F6"/>
          </a:solidFill>
          <a:ln w="12700">
            <a:solidFill>
              <a:srgbClr val="D0D0CE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3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 has no list of who is present</a:t>
            </a:r>
            <a:endParaRPr lang="en-US" sz="13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3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cannot tell when to begin.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0" y="4023360"/>
            <a:ext cx="5120640" cy="1097280"/>
          </a:xfrm>
          <a:prstGeom prst="roundRect">
            <a:avLst>
              <a:gd name="adj" fmla="val 5000"/>
            </a:avLst>
          </a:prstGeom>
          <a:solidFill>
            <a:srgbClr val="F6F6F6"/>
          </a:solidFill>
          <a:ln w="12700">
            <a:solidFill>
              <a:srgbClr val="D0D0CE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3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manages 60+ hearings/day</a:t>
            </a:r>
            <a:endParaRPr lang="en-US" sz="13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3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zero real-time visibility.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5257800"/>
            <a:ext cx="5120640" cy="731520"/>
          </a:xfrm>
          <a:prstGeom prst="roundRect">
            <a:avLst>
              <a:gd name="adj" fmla="val 7500"/>
            </a:avLst>
          </a:prstGeom>
          <a:solidFill>
            <a:srgbClr val="D22730"/>
          </a:solidFill>
          <a:ln w="12700">
            <a:solidFill>
              <a:srgbClr val="D22730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delays, no-shows, no audit, poor access to justice.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5497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ACE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"/>
            <a:ext cx="10515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complete, working app — two halves, zero external services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NYS Virtual Waiting Room  ·  Hackathon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5486400" cy="548640"/>
          </a:xfrm>
          <a:prstGeom prst="roundRect">
            <a:avLst>
              <a:gd name="adj" fmla="val 10000"/>
            </a:avLst>
          </a:prstGeom>
          <a:solidFill>
            <a:srgbClr val="154973"/>
          </a:solidFill>
          <a:ln w="12700">
            <a:solidFill>
              <a:srgbClr val="154973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Waiting Room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148840"/>
            <a:ext cx="52120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 for 9 hearing roles (SSO-driven).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check-in, availability &amp; presence tracking.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state machine gates when a hearing can start.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 controls: call/recall, deny, start, reassign, close.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oversight: search, sort, filter, live statuses, recordings, predictive wait-times.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Reporting, audit log, and a multilingual UI (12 languages + English, RTL).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0" y="1463040"/>
            <a:ext cx="5486400" cy="548640"/>
          </a:xfrm>
          <a:prstGeom prst="roundRect">
            <a:avLst>
              <a:gd name="adj" fmla="val 10000"/>
            </a:avLst>
          </a:prstGeom>
          <a:solidFill>
            <a:srgbClr val="1A8A36"/>
          </a:solidFill>
          <a:ln w="12700">
            <a:solidFill>
              <a:srgbClr val="1A8A36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In-house Video + AI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0" y="2148840"/>
            <a:ext cx="52120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Peer-to-peer WebRTC — built by us, no third-party vendor.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Multi-party video, mute, camera, screen share, chat.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(judge) controls: mute or remove a participant.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captions + interpreter translation; AI hearing summaries.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Recording saved server-side (playback in supervisor view).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Replaces Cisco WebEx/CMR with NYS-hosted video.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5497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ACE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"/>
            <a:ext cx="10515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Diagram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Actors, the system boundary, and what each role can do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NYS Virtual Waiting Room  ·  Hackathon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794760" y="1325880"/>
            <a:ext cx="4617720" cy="4800600"/>
          </a:xfrm>
          <a:prstGeom prst="roundRect">
            <a:avLst>
              <a:gd name="adj" fmla="val 792"/>
            </a:avLst>
          </a:prstGeom>
          <a:solidFill>
            <a:srgbClr val="F7FAFD"/>
          </a:solidFill>
          <a:ln w="19050">
            <a:solidFill>
              <a:srgbClr val="1549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94760" y="137160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4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Waiting Room System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977640" y="1783080"/>
            <a:ext cx="2057400" cy="566928"/>
          </a:xfrm>
          <a:prstGeom prst="ellipse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457AA5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154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In / Out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977640" y="2487168"/>
            <a:ext cx="2057400" cy="566928"/>
          </a:xfrm>
          <a:prstGeom prst="ellipse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457AA5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154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Availability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977640" y="3191256"/>
            <a:ext cx="2057400" cy="566928"/>
          </a:xfrm>
          <a:prstGeom prst="ellipse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457AA5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154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Presence</a:t>
            </a:r>
            <a:endParaRPr lang="en-US" sz="9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154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Readiness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977640" y="3895344"/>
            <a:ext cx="2057400" cy="566928"/>
          </a:xfrm>
          <a:prstGeom prst="ellipse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457AA5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154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/ Sort</a:t>
            </a:r>
            <a:endParaRPr lang="en-US" sz="9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154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Filter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977640" y="4599432"/>
            <a:ext cx="2057400" cy="566928"/>
          </a:xfrm>
          <a:prstGeom prst="ellipse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457AA5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154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&amp; Audit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263640" y="1783080"/>
            <a:ext cx="2057400" cy="566928"/>
          </a:xfrm>
          <a:prstGeom prst="ellipse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457AA5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154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/ Recall</a:t>
            </a:r>
            <a:endParaRPr lang="en-US" sz="9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154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263640" y="2487168"/>
            <a:ext cx="2057400" cy="566928"/>
          </a:xfrm>
          <a:prstGeom prst="ellipse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457AA5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154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Conference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63640" y="3191256"/>
            <a:ext cx="2057400" cy="566928"/>
          </a:xfrm>
          <a:prstGeom prst="ellipse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457AA5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154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/ Deny</a:t>
            </a:r>
            <a:endParaRPr lang="en-US" sz="9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154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Participants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263640" y="3895344"/>
            <a:ext cx="2057400" cy="566928"/>
          </a:xfrm>
          <a:prstGeom prst="ellipse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457AA5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154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Oversight</a:t>
            </a:r>
            <a:endParaRPr lang="en-US" sz="9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154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263640" y="4599432"/>
            <a:ext cx="2057400" cy="566928"/>
          </a:xfrm>
          <a:prstGeom prst="ellipse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457AA5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154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Video</a:t>
            </a:r>
            <a:endParaRPr lang="en-US" sz="9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154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Hearing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1554480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CDDDE9"/>
          </a:solidFill>
          <a:ln w="12700">
            <a:solidFill>
              <a:srgbClr val="154973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154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Appellant / Rep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2286000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CDDDE9"/>
          </a:solidFill>
          <a:ln w="12700">
            <a:solidFill>
              <a:srgbClr val="154973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154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Appellant Witness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017520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CDDDE9"/>
          </a:solidFill>
          <a:ln w="12700">
            <a:solidFill>
              <a:srgbClr val="154973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154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749040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CDDDE9"/>
          </a:solidFill>
          <a:ln w="12700">
            <a:solidFill>
              <a:srgbClr val="154973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154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Agency Rep / Witness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601200" y="1554480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FACE00"/>
          </a:solidFill>
          <a:ln w="12700">
            <a:solidFill>
              <a:srgbClr val="154973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154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Hearing Officer (ALJ)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601200" y="2286000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FACE00"/>
          </a:solidFill>
          <a:ln w="12700">
            <a:solidFill>
              <a:srgbClr val="154973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154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/ Clerk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601200" y="3017520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FACE00"/>
          </a:solidFill>
          <a:ln w="12700">
            <a:solidFill>
              <a:srgbClr val="154973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154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Administrative Staff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77440" y="6263640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E9EEF4"/>
          </a:solidFill>
          <a:ln w="12700">
            <a:solidFill>
              <a:srgbClr val="154973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154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IAM (SSO)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98080" y="6263640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E9EEF4"/>
          </a:solidFill>
          <a:ln w="12700">
            <a:solidFill>
              <a:srgbClr val="154973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154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IES System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0" y="1783080"/>
            <a:ext cx="1051560" cy="91"/>
          </a:xfrm>
          <a:prstGeom prst="line">
            <a:avLst/>
          </a:prstGeom>
          <a:noFill/>
          <a:ln w="12700">
            <a:solidFill>
              <a:srgbClr val="4A4D4F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2743200" y="2514600"/>
            <a:ext cx="1051560" cy="91"/>
          </a:xfrm>
          <a:prstGeom prst="line">
            <a:avLst/>
          </a:prstGeom>
          <a:noFill/>
          <a:ln w="12700">
            <a:solidFill>
              <a:srgbClr val="4A4D4F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2743200" y="3246120"/>
            <a:ext cx="1051560" cy="91"/>
          </a:xfrm>
          <a:prstGeom prst="line">
            <a:avLst/>
          </a:prstGeom>
          <a:noFill/>
          <a:ln w="12700">
            <a:solidFill>
              <a:srgbClr val="4A4D4F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2743200" y="3977640"/>
            <a:ext cx="1051560" cy="91"/>
          </a:xfrm>
          <a:prstGeom prst="line">
            <a:avLst/>
          </a:prstGeom>
          <a:noFill/>
          <a:ln w="12700">
            <a:solidFill>
              <a:srgbClr val="4A4D4F"/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 flipH="1">
            <a:off x="8412480" y="1783080"/>
            <a:ext cx="1188720" cy="91"/>
          </a:xfrm>
          <a:prstGeom prst="line">
            <a:avLst/>
          </a:prstGeom>
          <a:noFill/>
          <a:ln w="12700">
            <a:solidFill>
              <a:srgbClr val="4A4D4F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 flipH="1">
            <a:off x="8412480" y="2514600"/>
            <a:ext cx="1188720" cy="91"/>
          </a:xfrm>
          <a:prstGeom prst="line">
            <a:avLst/>
          </a:prstGeom>
          <a:noFill/>
          <a:ln w="12700">
            <a:solidFill>
              <a:srgbClr val="4A4D4F"/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 flipH="1">
            <a:off x="8412480" y="3246120"/>
            <a:ext cx="1188720" cy="91"/>
          </a:xfrm>
          <a:prstGeom prst="line">
            <a:avLst/>
          </a:prstGeom>
          <a:noFill/>
          <a:ln w="12700">
            <a:solidFill>
              <a:srgbClr val="4A4D4F"/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 flipV="1">
            <a:off x="3520440" y="5212080"/>
            <a:ext cx="685800" cy="1051560"/>
          </a:xfrm>
          <a:prstGeom prst="line">
            <a:avLst/>
          </a:prstGeom>
          <a:noFill/>
          <a:ln w="12700">
            <a:solidFill>
              <a:srgbClr val="4A4D4F"/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 flipH="1" flipV="1">
            <a:off x="7955280" y="5212080"/>
            <a:ext cx="685800" cy="1051560"/>
          </a:xfrm>
          <a:prstGeom prst="line">
            <a:avLst/>
          </a:prstGeom>
          <a:noFill/>
          <a:ln w="12700">
            <a:solidFill>
              <a:srgbClr val="4A4D4F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5497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ACE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"/>
            <a:ext cx="10515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Node process · real-time state broadcast · peer-to-peer video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NYS Virtual Waiting Room  ·  Hackathon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7680960" cy="1371600"/>
          </a:xfrm>
          <a:prstGeom prst="roundRect">
            <a:avLst>
              <a:gd name="adj" fmla="val 2667"/>
            </a:avLst>
          </a:prstGeom>
          <a:solidFill>
            <a:srgbClr val="F7FAFD"/>
          </a:solidFill>
          <a:ln w="19050">
            <a:solidFill>
              <a:srgbClr val="1549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716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4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Clients  (multi-tab / multi-device)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783080"/>
            <a:ext cx="22860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457AA5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154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app.js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154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VWR UI (role-based)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91840" y="1783080"/>
            <a:ext cx="22860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457AA5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154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conference.js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154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WebRTC client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760720" y="1783080"/>
            <a:ext cx="22860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457AA5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154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NYS Design System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154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components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7680960" cy="1828800"/>
          </a:xfrm>
          <a:prstGeom prst="roundRect">
            <a:avLst>
              <a:gd name="adj" fmla="val 2000"/>
            </a:avLst>
          </a:prstGeom>
          <a:solidFill>
            <a:srgbClr val="F6F6F6"/>
          </a:solidFill>
          <a:ln w="19050">
            <a:solidFill>
              <a:srgbClr val="15497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2918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4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— Express + Socket.io  (single process)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3703320"/>
            <a:ext cx="1737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457AA5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154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</a:t>
            </a:r>
            <a:endParaRPr lang="en-US" sz="9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154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/login</a:t>
            </a:r>
            <a:endParaRPr lang="en-US" sz="9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154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/directory</a:t>
            </a:r>
            <a:endParaRPr lang="en-US" sz="9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154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/report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697480" y="3703320"/>
            <a:ext cx="1737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457AA5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154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Realtime</a:t>
            </a:r>
            <a:endParaRPr lang="en-US" sz="9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154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Engine</a:t>
            </a:r>
            <a:endParaRPr lang="en-US" sz="9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154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(status machine)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0" y="3703320"/>
            <a:ext cx="1737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457AA5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154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WebRTC</a:t>
            </a:r>
            <a:endParaRPr lang="en-US" sz="9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154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Signaling</a:t>
            </a:r>
            <a:endParaRPr lang="en-US" sz="9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154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(SDP / ICE relay)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46520" y="3703320"/>
            <a:ext cx="15544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457AA5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154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</a:t>
            </a:r>
            <a:endParaRPr lang="en-US" sz="9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50" dirty="0">
                <a:solidFill>
                  <a:srgbClr val="154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Reporting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5257800"/>
            <a:ext cx="7680960" cy="640080"/>
          </a:xfrm>
          <a:prstGeom prst="roundRect">
            <a:avLst>
              <a:gd name="adj" fmla="val 8571"/>
            </a:avLst>
          </a:prstGeom>
          <a:solidFill>
            <a:srgbClr val="0E324F"/>
          </a:solidFill>
          <a:ln w="12700">
            <a:solidFill>
              <a:srgbClr val="0E324F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In-memory Store  (seeded from IES system of record · resets on demand)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89120" y="2697480"/>
            <a:ext cx="91" cy="548640"/>
          </a:xfrm>
          <a:prstGeom prst="line">
            <a:avLst/>
          </a:prstGeom>
          <a:noFill/>
          <a:ln w="25400">
            <a:solidFill>
              <a:srgbClr val="154973"/>
            </a:solidFill>
            <a:prstDash val="solid"/>
            <a:headEnd type="triangl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4572000" y="2743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+ Socket.io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4A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(live state snapshots)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389120" y="5074920"/>
            <a:ext cx="91" cy="182880"/>
          </a:xfrm>
          <a:prstGeom prst="line">
            <a:avLst/>
          </a:prstGeom>
          <a:noFill/>
          <a:ln w="25400">
            <a:solidFill>
              <a:srgbClr val="154973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965960" y="1783080"/>
            <a:ext cx="1325880" cy="91"/>
          </a:xfrm>
          <a:prstGeom prst="line">
            <a:avLst/>
          </a:prstGeom>
          <a:noFill/>
          <a:ln w="25400">
            <a:solidFill>
              <a:srgbClr val="1A8A36"/>
            </a:solidFill>
            <a:prstDash val="dash"/>
            <a:headEnd type="triangl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822960" y="132588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1A8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WebRTC P2P media (mesh) — server only brokers signaling</a:t>
            </a:r>
            <a:endParaRPr lang="en-US" sz="100" dirty="0"/>
          </a:p>
        </p:txBody>
      </p:sp>
      <p:sp>
        <p:nvSpPr>
          <p:cNvPr id="24" name="Shape 22"/>
          <p:cNvSpPr/>
          <p:nvPr/>
        </p:nvSpPr>
        <p:spPr>
          <a:xfrm>
            <a:off x="8503920" y="1325880"/>
            <a:ext cx="3108960" cy="457200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5875">
            <a:solidFill>
              <a:srgbClr val="4A4D4F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8503920" y="1371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[INTEGRATION] Seams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732520" y="1874520"/>
            <a:ext cx="27432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A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IAM — SAML2 / OAuth / OIDC single sign-on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A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IES — read hearing &amp; participant data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A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IES — write back status / officer / participants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A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Cisco WebEx / CMR — replaced by in-house WebRTC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A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open, secure REST / WebSocket standards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60350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8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green dashed link = peer-to-peer audio/video between clients.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5497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ACE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"/>
            <a:ext cx="10515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Flow &amp; User Journey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hearing cannot start until every required party is ready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NYS Virtual Waiting Room  ·  Hackathon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</a:t>
            </a:r>
            <a:endParaRPr lang="en-US" sz="12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Checked 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0" y="1828800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B29200"/>
          </a:solidFill>
          <a:ln w="12700">
            <a:solidFill>
              <a:srgbClr val="B29200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Ready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0" y="1828800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1A8A36"/>
          </a:solidFill>
          <a:ln w="12700">
            <a:solidFill>
              <a:srgbClr val="1A8A36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0" y="1828800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457AA5"/>
          </a:solidFill>
          <a:ln w="12700">
            <a:solidFill>
              <a:srgbClr val="457AA5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0" y="1828800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4A4D4F"/>
          </a:solidFill>
          <a:ln w="12700">
            <a:solidFill>
              <a:srgbClr val="4A4D4F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23160" y="2267712"/>
            <a:ext cx="320040" cy="91"/>
          </a:xfrm>
          <a:prstGeom prst="line">
            <a:avLst/>
          </a:prstGeom>
          <a:noFill/>
          <a:ln w="25400">
            <a:solidFill>
              <a:srgbClr val="154973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709160" y="2267712"/>
            <a:ext cx="320040" cy="91"/>
          </a:xfrm>
          <a:prstGeom prst="line">
            <a:avLst/>
          </a:prstGeom>
          <a:noFill/>
          <a:ln w="25400">
            <a:solidFill>
              <a:srgbClr val="154973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995160" y="2267712"/>
            <a:ext cx="320040" cy="91"/>
          </a:xfrm>
          <a:prstGeom prst="line">
            <a:avLst/>
          </a:prstGeom>
          <a:noFill/>
          <a:ln w="25400">
            <a:solidFill>
              <a:srgbClr val="154973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281160" y="2267712"/>
            <a:ext cx="320040" cy="91"/>
          </a:xfrm>
          <a:prstGeom prst="line">
            <a:avLst/>
          </a:prstGeom>
          <a:noFill/>
          <a:ln w="25400">
            <a:solidFill>
              <a:srgbClr val="154973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320040" y="27432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appellant / rep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in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606040" y="27432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participant(s)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92040" y="27432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Judge: Call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78040" y="27432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Judge: Close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(+ disposition)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0" y="3749040"/>
            <a:ext cx="1965960" cy="777240"/>
          </a:xfrm>
          <a:prstGeom prst="roundRect">
            <a:avLst>
              <a:gd name="adj" fmla="val 7059"/>
            </a:avLst>
          </a:prstGeom>
          <a:solidFill>
            <a:srgbClr val="6D4CA8"/>
          </a:solidFill>
          <a:ln w="12700">
            <a:solidFill>
              <a:srgbClr val="6D4CA8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 flipH="1">
            <a:off x="8778240" y="2697480"/>
            <a:ext cx="1280160" cy="1051560"/>
          </a:xfrm>
          <a:prstGeom prst="line">
            <a:avLst/>
          </a:prstGeom>
          <a:noFill/>
          <a:ln w="22225">
            <a:solidFill>
              <a:srgbClr val="6D4CA8"/>
            </a:solidFill>
            <a:prstDash val="dash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 flipH="1" flipV="1">
            <a:off x="7955280" y="2697480"/>
            <a:ext cx="274320" cy="1051560"/>
          </a:xfrm>
          <a:prstGeom prst="line">
            <a:avLst/>
          </a:prstGeom>
          <a:noFill/>
          <a:ln w="22225">
            <a:solidFill>
              <a:srgbClr val="6D4CA8"/>
            </a:solidFill>
            <a:prstDash val="dash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7315200" y="45262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D4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a closed hearing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5074920"/>
            <a:ext cx="11247120" cy="36576"/>
          </a:xfrm>
          <a:prstGeom prst="rect">
            <a:avLst/>
          </a:prstGeom>
          <a:solidFill>
            <a:srgbClr val="FACE00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5212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4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journey: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55778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SSO login  →  2) Check in  →  3) Set Available  →  4) Hearing turns Ready  →  5) Judge Calls  →  6) Join in-house video  →  7) Close with disposition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5497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ACE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"/>
            <a:ext cx="10515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In-house Conferencing (WebRTC)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built the video — the server only brokers signaling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NYS Virtual Waiting Room  ·  Hackathon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18288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457AA5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154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A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154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joins room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06040" y="1645920"/>
            <a:ext cx="18288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457AA5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154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adds to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154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conf:&lt;hearing&gt;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0" y="1645920"/>
            <a:ext cx="18288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457AA5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154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sends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154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list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903720" y="1645920"/>
            <a:ext cx="18288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457AA5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154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→ Offer (SDP)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154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server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052560" y="1645920"/>
            <a:ext cx="18288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457AA5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154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→ Answer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154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ICE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0" y="2057400"/>
            <a:ext cx="320040" cy="91"/>
          </a:xfrm>
          <a:prstGeom prst="line">
            <a:avLst/>
          </a:prstGeom>
          <a:noFill/>
          <a:ln w="22225">
            <a:solidFill>
              <a:srgbClr val="154973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434840" y="2057400"/>
            <a:ext cx="320040" cy="91"/>
          </a:xfrm>
          <a:prstGeom prst="line">
            <a:avLst/>
          </a:prstGeom>
          <a:noFill/>
          <a:ln w="22225">
            <a:solidFill>
              <a:srgbClr val="154973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583680" y="2057400"/>
            <a:ext cx="320040" cy="91"/>
          </a:xfrm>
          <a:prstGeom prst="line">
            <a:avLst/>
          </a:prstGeom>
          <a:noFill/>
          <a:ln w="22225">
            <a:solidFill>
              <a:srgbClr val="154973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732520" y="2057400"/>
            <a:ext cx="320040" cy="91"/>
          </a:xfrm>
          <a:prstGeom prst="line">
            <a:avLst/>
          </a:prstGeom>
          <a:noFill/>
          <a:ln w="22225">
            <a:solidFill>
              <a:srgbClr val="154973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0881360" y="1645920"/>
            <a:ext cx="1097280" cy="822960"/>
          </a:xfrm>
          <a:prstGeom prst="roundRect">
            <a:avLst>
              <a:gd name="adj" fmla="val 6667"/>
            </a:avLst>
          </a:prstGeom>
          <a:solidFill>
            <a:srgbClr val="1A8A36"/>
          </a:solidFill>
          <a:ln w="12700">
            <a:solidFill>
              <a:srgbClr val="1A8A36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P2P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881360" y="2057400"/>
            <a:ext cx="91" cy="91"/>
          </a:xfrm>
          <a:prstGeom prst="line">
            <a:avLst/>
          </a:prstGeom>
          <a:noFill/>
          <a:ln w="22225">
            <a:solidFill>
              <a:srgbClr val="1A8A3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052560" y="2468880"/>
            <a:ext cx="1828800" cy="91"/>
          </a:xfrm>
          <a:prstGeom prst="line">
            <a:avLst/>
          </a:prstGeom>
          <a:noFill/>
          <a:ln w="25400">
            <a:solidFill>
              <a:srgbClr val="1A8A36"/>
            </a:solidFill>
            <a:prstDash val="dash"/>
            <a:headEnd type="triangl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457200" y="27432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8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connected, audio/video flow directly peer-to-peer (no server in the media path).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383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4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delivered: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3840480"/>
            <a:ext cx="2194560" cy="548640"/>
          </a:xfrm>
          <a:prstGeom prst="roundRect">
            <a:avLst>
              <a:gd name="adj" fmla="val 10000"/>
            </a:avLst>
          </a:prstGeom>
          <a:solidFill>
            <a:srgbClr val="F6F6F6"/>
          </a:solidFill>
          <a:ln w="12700">
            <a:solidFill>
              <a:srgbClr val="D0D0CE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Multi-party video + audio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88920" y="3840480"/>
            <a:ext cx="2194560" cy="548640"/>
          </a:xfrm>
          <a:prstGeom prst="roundRect">
            <a:avLst>
              <a:gd name="adj" fmla="val 10000"/>
            </a:avLst>
          </a:prstGeom>
          <a:solidFill>
            <a:srgbClr val="F6F6F6"/>
          </a:solidFill>
          <a:ln w="12700">
            <a:solidFill>
              <a:srgbClr val="D0D0CE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Mute / unmute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20640" y="3840480"/>
            <a:ext cx="2194560" cy="548640"/>
          </a:xfrm>
          <a:prstGeom prst="roundRect">
            <a:avLst>
              <a:gd name="adj" fmla="val 10000"/>
            </a:avLst>
          </a:prstGeom>
          <a:solidFill>
            <a:srgbClr val="F6F6F6"/>
          </a:solidFill>
          <a:ln w="12700">
            <a:solidFill>
              <a:srgbClr val="D0D0CE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on/off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452360" y="3840480"/>
            <a:ext cx="2194560" cy="548640"/>
          </a:xfrm>
          <a:prstGeom prst="roundRect">
            <a:avLst>
              <a:gd name="adj" fmla="val 10000"/>
            </a:avLst>
          </a:prstGeom>
          <a:solidFill>
            <a:srgbClr val="F6F6F6"/>
          </a:solidFill>
          <a:ln w="12700">
            <a:solidFill>
              <a:srgbClr val="D0D0CE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share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784080" y="3840480"/>
            <a:ext cx="2194560" cy="548640"/>
          </a:xfrm>
          <a:prstGeom prst="roundRect">
            <a:avLst>
              <a:gd name="adj" fmla="val 10000"/>
            </a:avLst>
          </a:prstGeom>
          <a:solidFill>
            <a:srgbClr val="F6F6F6"/>
          </a:solidFill>
          <a:ln w="12700">
            <a:solidFill>
              <a:srgbClr val="D0D0CE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In-hearing chat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572000"/>
            <a:ext cx="2194560" cy="548640"/>
          </a:xfrm>
          <a:prstGeom prst="roundRect">
            <a:avLst>
              <a:gd name="adj" fmla="val 10000"/>
            </a:avLst>
          </a:prstGeom>
          <a:solidFill>
            <a:srgbClr val="F6F6F6"/>
          </a:solidFill>
          <a:ln w="12700">
            <a:solidFill>
              <a:srgbClr val="D0D0CE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captions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88920" y="4572000"/>
            <a:ext cx="2194560" cy="548640"/>
          </a:xfrm>
          <a:prstGeom prst="roundRect">
            <a:avLst>
              <a:gd name="adj" fmla="val 10000"/>
            </a:avLst>
          </a:prstGeom>
          <a:solidFill>
            <a:srgbClr val="F6F6F6"/>
          </a:solidFill>
          <a:ln w="12700">
            <a:solidFill>
              <a:srgbClr val="D0D0CE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Interpreter translation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20640" y="4572000"/>
            <a:ext cx="2194560" cy="548640"/>
          </a:xfrm>
          <a:prstGeom prst="roundRect">
            <a:avLst>
              <a:gd name="adj" fmla="val 10000"/>
            </a:avLst>
          </a:prstGeom>
          <a:solidFill>
            <a:srgbClr val="F6F6F6"/>
          </a:solidFill>
          <a:ln w="12700">
            <a:solidFill>
              <a:srgbClr val="D0D0CE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Host: mute / remove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452360" y="4572000"/>
            <a:ext cx="2194560" cy="548640"/>
          </a:xfrm>
          <a:prstGeom prst="roundRect">
            <a:avLst>
              <a:gd name="adj" fmla="val 10000"/>
            </a:avLst>
          </a:prstGeom>
          <a:solidFill>
            <a:srgbClr val="F6F6F6"/>
          </a:solidFill>
          <a:ln w="12700">
            <a:solidFill>
              <a:srgbClr val="D0D0CE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Recording (saved)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784080" y="4572000"/>
            <a:ext cx="2194560" cy="548640"/>
          </a:xfrm>
          <a:prstGeom prst="roundRect">
            <a:avLst>
              <a:gd name="adj" fmla="val 10000"/>
            </a:avLst>
          </a:prstGeom>
          <a:solidFill>
            <a:srgbClr val="F6F6F6"/>
          </a:solidFill>
          <a:ln w="12700">
            <a:solidFill>
              <a:srgbClr val="D0D0CE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hearing summary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5577840"/>
            <a:ext cx="11247120" cy="640080"/>
          </a:xfrm>
          <a:prstGeom prst="roundRect">
            <a:avLst>
              <a:gd name="adj" fmla="val 8571"/>
            </a:avLst>
          </a:prstGeom>
          <a:solidFill>
            <a:srgbClr val="F7FAFD"/>
          </a:solidFill>
          <a:ln w="12700">
            <a:solidFill>
              <a:srgbClr val="154973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154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suits hearing-sized rooms (≤ ~8). Scale path: add TURN for NAT traversal + an SFU for large rooms.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5497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ACE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"/>
            <a:ext cx="10515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Involvement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AI — and four AI features now built into the product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NYS Virtual Waiting Room  ·  Hackathon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5486400" cy="548640"/>
          </a:xfrm>
          <a:prstGeom prst="roundRect">
            <a:avLst>
              <a:gd name="adj" fmla="val 10000"/>
            </a:avLst>
          </a:prstGeom>
          <a:solidFill>
            <a:srgbClr val="154973"/>
          </a:solidFill>
          <a:ln w="12700">
            <a:solidFill>
              <a:srgbClr val="154973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AI  (today)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148840"/>
            <a:ext cx="5212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Entire app — backend, real-time engine, WebRTC video, NYSDS UI — built with an AI coding agent.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instead of weeks, from requirements to working demo.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reusable build-prompt (PROMPT.md) regenerates the app in any CLI.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cross-checked design-system tokens &amp; icons for fidelity.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0" y="1463040"/>
            <a:ext cx="5486400" cy="548640"/>
          </a:xfrm>
          <a:prstGeom prst="roundRect">
            <a:avLst>
              <a:gd name="adj" fmla="val 10000"/>
            </a:avLst>
          </a:prstGeom>
          <a:solidFill>
            <a:srgbClr val="FACE00"/>
          </a:solidFill>
          <a:ln w="12700">
            <a:solidFill>
              <a:srgbClr val="FACE00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0E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 the Product  (built)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0" y="2148840"/>
            <a:ext cx="5212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captions &amp; transcription in the hearing (in-browser).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translation assist for interpreters.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hearing summaries drafted for the judge.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wait-times to rebalance the docket.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709160"/>
            <a:ext cx="11247120" cy="36576"/>
          </a:xfrm>
          <a:prstGeom prst="rect">
            <a:avLst/>
          </a:prstGeom>
          <a:solidFill>
            <a:srgbClr val="D0D0CE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846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4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already exposes the hooks AI needs: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525780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455A6E"/>
          </a:solidFill>
          <a:ln w="12700">
            <a:solidFill>
              <a:srgbClr val="455A6E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streams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structured events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51760" y="5650992"/>
            <a:ext cx="320040" cy="91"/>
          </a:xfrm>
          <a:prstGeom prst="line">
            <a:avLst/>
          </a:prstGeom>
          <a:noFill/>
          <a:ln w="25400">
            <a:solidFill>
              <a:srgbClr val="154973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3017520" y="525780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FACE00"/>
          </a:solidFill>
          <a:ln w="12700">
            <a:solidFill>
              <a:srgbClr val="FACE00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0E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services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0E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(STT / MT / LLM)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12080" y="5650992"/>
            <a:ext cx="320040" cy="91"/>
          </a:xfrm>
          <a:prstGeom prst="line">
            <a:avLst/>
          </a:prstGeom>
          <a:noFill/>
          <a:ln w="25400">
            <a:solidFill>
              <a:srgbClr val="154973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5577840" y="525780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1A8A36"/>
          </a:solidFill>
          <a:ln w="12700">
            <a:solidFill>
              <a:srgbClr val="1A8A36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Transcript /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0" y="525780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457AA5"/>
          </a:solidFill>
          <a:ln w="12700">
            <a:solidFill>
              <a:srgbClr val="457AA5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 /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Interpreter assist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966960" y="525780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6D4CA8"/>
          </a:solidFill>
          <a:ln w="12700">
            <a:solidFill>
              <a:srgbClr val="6D4CA8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Summaries /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Wait-time predict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17920" y="43891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&amp; demoable. Translation/summaries use a hosted model when an API key is set, with an offline fallback; captions are in-browser; wait-times are a live heuristic.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5497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ACE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"/>
            <a:ext cx="10515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NYS Design System &amp; Accessibility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On-brand, on-standard, and built for everyone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NYS Virtual Waiting Room  ·  Hackathon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the official NYS Design System (NYSDS): @nysds/styles + @nysds/components.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State-blue theme, NYS gold accent, Proxima Nova type — all via design tokens.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components: nys-globalheader, nys-button, nys-icon, nys-badge.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UI — NYS 12-language set + English, with RTL (Arabic / Urdu / Yiddish).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508 / WCAG: visible focus, contrast, semantic landmarks, responsive multi-device.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 icons (mic/camera/etc.) inlined in the same Material family, since NYSDS omits them.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0" y="1645920"/>
            <a:ext cx="5212080" cy="548640"/>
          </a:xfrm>
          <a:prstGeom prst="roundRect">
            <a:avLst>
              <a:gd name="adj" fmla="val 10000"/>
            </a:avLst>
          </a:prstGeom>
          <a:solidFill>
            <a:srgbClr val="154973"/>
          </a:solidFill>
          <a:ln w="12700">
            <a:solidFill>
              <a:srgbClr val="154973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tokens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2331720"/>
            <a:ext cx="1691640" cy="731520"/>
          </a:xfrm>
          <a:prstGeom prst="roundRect">
            <a:avLst>
              <a:gd name="adj" fmla="val 7500"/>
            </a:avLst>
          </a:prstGeom>
          <a:solidFill>
            <a:srgbClr val="154973"/>
          </a:solidFill>
          <a:ln w="12700">
            <a:solidFill>
              <a:srgbClr val="154973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Blue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#154973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183880" y="2331720"/>
            <a:ext cx="1691640" cy="731520"/>
          </a:xfrm>
          <a:prstGeom prst="roundRect">
            <a:avLst>
              <a:gd name="adj" fmla="val 7500"/>
            </a:avLst>
          </a:prstGeom>
          <a:solidFill>
            <a:srgbClr val="FACE00"/>
          </a:solidFill>
          <a:ln w="12700">
            <a:solidFill>
              <a:srgbClr val="FACE00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 Gold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#FACE00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966960" y="2331720"/>
            <a:ext cx="1691640" cy="731520"/>
          </a:xfrm>
          <a:prstGeom prst="roundRect">
            <a:avLst>
              <a:gd name="adj" fmla="val 7500"/>
            </a:avLst>
          </a:prstGeom>
          <a:solidFill>
            <a:srgbClr val="1A8A36"/>
          </a:solidFill>
          <a:ln w="12700">
            <a:solidFill>
              <a:srgbClr val="1A8A36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#1A8A36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0" y="2331720"/>
            <a:ext cx="1691640" cy="731520"/>
          </a:xfrm>
          <a:prstGeom prst="roundRect">
            <a:avLst>
              <a:gd name="adj" fmla="val 7500"/>
            </a:avLst>
          </a:prstGeom>
          <a:solidFill>
            <a:srgbClr val="B29200"/>
          </a:solidFill>
          <a:ln w="12700">
            <a:solidFill>
              <a:srgbClr val="B29200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#B29200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0" y="3154680"/>
            <a:ext cx="0" cy="0"/>
          </a:xfrm>
          <a:prstGeom prst="rect">
            <a:avLst/>
          </a:prstGeom>
          <a:noFill/>
          <a:ln/>
        </p:spPr>
      </p:sp>
      <p:sp>
        <p:nvSpPr>
          <p:cNvPr id="14" name="Text 12"/>
          <p:cNvSpPr/>
          <p:nvPr/>
        </p:nvSpPr>
        <p:spPr>
          <a:xfrm>
            <a:off x="6400800" y="3200400"/>
            <a:ext cx="1691640" cy="731520"/>
          </a:xfrm>
          <a:prstGeom prst="roundRect">
            <a:avLst>
              <a:gd name="adj" fmla="val 7500"/>
            </a:avLst>
          </a:prstGeom>
          <a:solidFill>
            <a:srgbClr val="B29200"/>
          </a:solidFill>
          <a:ln w="12700">
            <a:solidFill>
              <a:srgbClr val="B29200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#B29200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183880" y="3200400"/>
            <a:ext cx="1691640" cy="731520"/>
          </a:xfrm>
          <a:prstGeom prst="roundRect">
            <a:avLst>
              <a:gd name="adj" fmla="val 7500"/>
            </a:avLst>
          </a:prstGeom>
          <a:solidFill>
            <a:srgbClr val="D22730"/>
          </a:solidFill>
          <a:ln w="12700">
            <a:solidFill>
              <a:srgbClr val="D22730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Danger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#D22730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966960" y="3200400"/>
            <a:ext cx="16916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0D0CE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#FFFFFF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0" y="4297680"/>
            <a:ext cx="5257800" cy="1554480"/>
          </a:xfrm>
          <a:prstGeom prst="roundRect">
            <a:avLst>
              <a:gd name="adj" fmla="val 3529"/>
            </a:avLst>
          </a:prstGeom>
          <a:solidFill>
            <a:srgbClr val="F7FAFD"/>
          </a:solidFill>
          <a:ln w="12700">
            <a:solidFill>
              <a:srgbClr val="154973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200" dirty="0">
                <a:solidFill>
                  <a:srgbClr val="154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roles · 6-state status machine · live multi-tab sync · in-house video + recording · AI captions/translation/summaries · 13-language UI · audit + reporting — one dependency-light app.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5497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ACE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"/>
            <a:ext cx="10515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— Who This Really Helps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generic tool — it touches real New Yorkers at a vulnerable moment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NYS Virtual Waiting Room  ·  Hackathon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3566160" cy="17830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0D0C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472184"/>
            <a:ext cx="118872" cy="1673352"/>
          </a:xfrm>
          <a:prstGeom prst="rect">
            <a:avLst/>
          </a:prstGeom>
          <a:solidFill>
            <a:srgbClr val="154973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1527048"/>
            <a:ext cx="3154680" cy="1563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54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Appellants &amp; families
</a:t>
            </a:r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Vulnerable New Yorkers appealing Medicaid, SNAP, child care &amp; temporary assistance — clarity not anxiety, no wasted trips, guaranteed interpreter, 508-accessible. Access to justice.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15968" y="1417320"/>
            <a:ext cx="3566160" cy="17830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0D0C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15968" y="1472184"/>
            <a:ext cx="118872" cy="1673352"/>
          </a:xfrm>
          <a:prstGeom prst="rect">
            <a:avLst/>
          </a:prstGeom>
          <a:solidFill>
            <a:srgbClr val="457AA5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527048"/>
            <a:ext cx="3154680" cy="1563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54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Representatives &amp; advocates
</a:t>
            </a:r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aid &amp; reps see readiness in real time, manage multiple hearings, and stop losing days to adjournments from a missing party.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83296" y="1417320"/>
            <a:ext cx="3566160" cy="17830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0D0C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83296" y="1472184"/>
            <a:ext cx="118872" cy="1673352"/>
          </a:xfrm>
          <a:prstGeom prst="rect">
            <a:avLst/>
          </a:prstGeom>
          <a:solidFill>
            <a:srgbClr val="FACE00"/>
          </a:solidFill>
          <a:ln/>
        </p:spPr>
      </p:sp>
      <p:sp>
        <p:nvSpPr>
          <p:cNvPr id="15" name="Text 13"/>
          <p:cNvSpPr/>
          <p:nvPr/>
        </p:nvSpPr>
        <p:spPr>
          <a:xfrm>
            <a:off x="8339328" y="1527048"/>
            <a:ext cx="3154680" cy="1563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54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Hearing Officers (ALJs)
</a:t>
            </a:r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live roster + readiness gate; focus on one hearing at a time; start on time instead of waiting in a blank room.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383280"/>
            <a:ext cx="3566160" cy="17830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0D0C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8144"/>
            <a:ext cx="118872" cy="1673352"/>
          </a:xfrm>
          <a:prstGeom prst="rect">
            <a:avLst/>
          </a:prstGeom>
          <a:solidFill>
            <a:srgbClr val="1A8A36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3493008"/>
            <a:ext cx="3154680" cy="1563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54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Supervisors &amp; clerks
</a:t>
            </a:r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Day-wide oversight to rebalance dockets, with live metrics and a full audit trail for compliance.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315968" y="3383280"/>
            <a:ext cx="3566160" cy="17830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0D0C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15968" y="3438144"/>
            <a:ext cx="118872" cy="1673352"/>
          </a:xfrm>
          <a:prstGeom prst="rect">
            <a:avLst/>
          </a:prstGeom>
          <a:solidFill>
            <a:srgbClr val="6D4CA8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3493008"/>
            <a:ext cx="3154680" cy="1563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54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Agencies (OTDA / DOH / OCFS) &amp; ITS
</a:t>
            </a:r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In-house video = no vendor lock-in, a complete audit record, and clean integration with IES and ITS IAM.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083296" y="3383280"/>
            <a:ext cx="3566160" cy="17830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0D0C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83296" y="3438144"/>
            <a:ext cx="118872" cy="1673352"/>
          </a:xfrm>
          <a:prstGeom prst="rect">
            <a:avLst/>
          </a:prstGeom>
          <a:solidFill>
            <a:srgbClr val="B29200"/>
          </a:solidFill>
          <a:ln/>
        </p:spPr>
      </p:sp>
      <p:sp>
        <p:nvSpPr>
          <p:cNvPr id="24" name="Text 22"/>
          <p:cNvSpPr/>
          <p:nvPr/>
        </p:nvSpPr>
        <p:spPr>
          <a:xfrm>
            <a:off x="8339328" y="3493008"/>
            <a:ext cx="3154680" cy="1563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549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York State &amp; taxpayers
</a:t>
            </a:r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throughput, fewer no-shows &amp; adjournments, and lower third-party conferencing cost.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440680"/>
            <a:ext cx="11091672" cy="685800"/>
          </a:xfrm>
          <a:prstGeom prst="roundRect">
            <a:avLst>
              <a:gd name="adj" fmla="val 8000"/>
            </a:avLst>
          </a:prstGeom>
          <a:solidFill>
            <a:srgbClr val="0E324F"/>
          </a:solidFill>
          <a:ln w="12700">
            <a:solidFill>
              <a:srgbClr val="0E324F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line: better outcomes for the New Yorker on the other side of the screen — and a real tool for the people who serve them.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5497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ACE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"/>
            <a:ext cx="10515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Plans / Roadmap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working demo to production NYS system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NYS Virtual Waiting Room  ·  Hackathon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789920" y="1325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A4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627632"/>
            <a:ext cx="11091672" cy="91"/>
          </a:xfrm>
          <a:prstGeom prst="line">
            <a:avLst/>
          </a:prstGeom>
          <a:noFill/>
          <a:ln w="38100">
            <a:solidFill>
              <a:srgbClr val="FACE00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8640" y="1828800"/>
            <a:ext cx="2606040" cy="3520440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 w="12700">
            <a:solidFill>
              <a:srgbClr val="D0D0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828800"/>
            <a:ext cx="2606040" cy="548640"/>
          </a:xfrm>
          <a:prstGeom prst="rect">
            <a:avLst/>
          </a:prstGeom>
          <a:solidFill>
            <a:srgbClr val="15497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Productionize &amp; Integrate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31520" y="2514600"/>
            <a:ext cx="228600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ITS IAM SSO (SAML2 / OIDC)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IES read + write-back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 / calendar sync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persistence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74136" y="1828800"/>
            <a:ext cx="2606040" cy="3520440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 w="12700">
            <a:solidFill>
              <a:srgbClr val="D0D0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74136" y="1828800"/>
            <a:ext cx="2606040" cy="548640"/>
          </a:xfrm>
          <a:prstGeom prst="rect">
            <a:avLst/>
          </a:prstGeom>
          <a:solidFill>
            <a:srgbClr val="457AA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Scale &amp; Record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557016" y="2514600"/>
            <a:ext cx="228600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server (cross-network)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SFU for large hearings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Server-side recording to NYS storage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High-availability + load testing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99632" y="1828800"/>
            <a:ext cx="2606040" cy="3520440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 w="12700">
            <a:solidFill>
              <a:srgbClr val="D0D0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9632" y="1828800"/>
            <a:ext cx="2606040" cy="548640"/>
          </a:xfrm>
          <a:prstGeom prst="rect">
            <a:avLst/>
          </a:prstGeom>
          <a:solidFill>
            <a:srgbClr val="FACE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AI Hardening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382512" y="2514600"/>
            <a:ext cx="228600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STT / MT / LLM hosting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tuning &amp; evaluation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Legal-record handling for AI output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language-access translations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25128" y="1828800"/>
            <a:ext cx="2606040" cy="3520440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 w="12700">
            <a:solidFill>
              <a:srgbClr val="D0D0C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25128" y="1828800"/>
            <a:ext cx="2606040" cy="548640"/>
          </a:xfrm>
          <a:prstGeom prst="rect">
            <a:avLst/>
          </a:prstGeom>
          <a:solidFill>
            <a:srgbClr val="1A8A3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 — Expand &amp; Optimize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208008" y="2514600"/>
            <a:ext cx="228600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 / email notifications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mobile apps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UI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&amp; docket optimization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5532120"/>
            <a:ext cx="11091672" cy="685800"/>
          </a:xfrm>
          <a:prstGeom prst="roundRect">
            <a:avLst>
              <a:gd name="adj" fmla="val 8000"/>
            </a:avLst>
          </a:prstGeom>
          <a:solidFill>
            <a:srgbClr val="0E324F"/>
          </a:solidFill>
          <a:ln w="12700">
            <a:solidFill>
              <a:srgbClr val="0E324F"/>
            </a:solidFill>
            <a:prstDash val="solid"/>
          </a:ln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Cross-cutting (every phase): security &amp; compliance (WORM audit · encryption · retention · consent · pen-testing)  ·  WCAG 2.2 AA  ·  24/7 monitoring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49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12191695" cy="64008"/>
          </a:xfrm>
          <a:prstGeom prst="rect">
            <a:avLst/>
          </a:prstGeom>
          <a:solidFill>
            <a:srgbClr val="FACE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1887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to justice, by design.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246888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DD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Faster, fairer, more transparent fair hearings for New Yorkers — and the oversight tools the staff who run them have never had.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3566160"/>
            <a:ext cx="10515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system — on NYS standards — ready to integrate with IAM, IES &amp; conferencing.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In-house video means no vendor lock-in for virtual hearings.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AI-built today; AI-augmented tomorrow (transcription, translation, summaries).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5852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C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NYS Virtual Waiting Room   ·   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NYS ITS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NYS Virtual Waiting Room</dc:title>
  <dc:subject>PptxGenJS Presentation</dc:subject>
  <dc:creator>Hackathon Team</dc:creator>
  <cp:lastModifiedBy>Hackathon Team</cp:lastModifiedBy>
  <cp:revision>1</cp:revision>
  <dcterms:created xsi:type="dcterms:W3CDTF">2026-06-06T01:15:59Z</dcterms:created>
  <dcterms:modified xsi:type="dcterms:W3CDTF">2026-06-06T01:15:59Z</dcterms:modified>
</cp:coreProperties>
</file>