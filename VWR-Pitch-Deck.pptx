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9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8920"/>
            <a:ext cx="12191695" cy="64008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914400" cy="914400"/>
          </a:xfrm>
          <a:prstGeom prst="ellipse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DD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Presence-aware fair-hearing flow + in-house video conferencing for New York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OTDA · DOH · OCFS   |   Integrated Eligibility System (IES)   |   Built on the NYS Design System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WebEx gives you a room — not a hearing workflow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577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runs virtual fair hearings for OTDA, DOH &amp; OCFS on Cisco WebEx/CMR.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WebEx provides a generic "waiting room" + "meeting room" — but cannot record PRESENCE.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know who has checked in or who is ready for the hearing.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rule that a hearing only starts when ALL required parties — including the judge — are available.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get no roster; supervisors get no oversight; nobody gets an audit trail.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this is run by phone calls, spreadsheets, and guesswork.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15544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logs in to a blank waiting room —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interpreter here? Is the judge ready?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278892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has no list of who is present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cannot tell when to begin.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02336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manages 60+ hearings/day</a:t>
            </a:r>
            <a:endParaRPr lang="en-US" sz="13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zero real-time visibility.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525780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D22730"/>
          </a:solidFill>
          <a:ln w="12700">
            <a:solidFill>
              <a:srgbClr val="D2273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delays, no-shows, no audit, poor access to justice.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working app — two halves, zero external services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for 9 hearing roles (SSO-driven).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check-in, availability &amp; presence tracking.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state machine — hearing unlocks only when all required parties are ready.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controls: call/recall, deny, start, reassign, close + disposition.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oversight dashboard: search, sort, filter, live statuses.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reporting + full audit log.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Conferencing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 WebRTC — built by us, no third-party vendor.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Multi-party video + audio (full mesh).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Mute, camera toggle, screen share, in-hearing chat.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(judge) controls: mute or remove a participant.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indicator / presence capture.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Cisco WebEx/CMR with NYS-hosted video.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Diagram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Actors, the system boundary, and what each role can 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794760" y="1325880"/>
            <a:ext cx="4617720" cy="4800600"/>
          </a:xfrm>
          <a:prstGeom prst="roundRect">
            <a:avLst>
              <a:gd name="adj" fmla="val 792"/>
            </a:avLst>
          </a:prstGeom>
          <a:solidFill>
            <a:srgbClr val="F7FAFD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3716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Waiting Room System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977640" y="1783080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In / Out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977640" y="2487168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Availability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977640" y="3191256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Presence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Readiness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77640" y="3895344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/ Sort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Filter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77640" y="4599432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Audit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63640" y="1783080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/ Recall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2487168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Conference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63640" y="3191256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/ Deny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263640" y="3895344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63640" y="4599432"/>
            <a:ext cx="2057400" cy="566928"/>
          </a:xfrm>
          <a:prstGeom prst="ellipse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Video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15544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/ Rep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2860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Witness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490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CDDDE9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Rep / Witness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0" y="155448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 Officer (ALJ)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01200" y="228600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/ Clerk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0" y="301752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FACE00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Staff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77440" y="6263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E9EEF4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IAM (SSO)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6263640"/>
            <a:ext cx="2286000" cy="457200"/>
          </a:xfrm>
          <a:prstGeom prst="roundRect">
            <a:avLst>
              <a:gd name="adj" fmla="val 12000"/>
            </a:avLst>
          </a:prstGeom>
          <a:solidFill>
            <a:srgbClr val="E9EEF4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System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0" y="178308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2743200" y="251460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743200" y="324612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2743200" y="3977640"/>
            <a:ext cx="105156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 flipH="1">
            <a:off x="8412480" y="178308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 flipH="1">
            <a:off x="8412480" y="251460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8412480" y="3246120"/>
            <a:ext cx="1188720" cy="91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 flipV="1">
            <a:off x="3520440" y="5212080"/>
            <a:ext cx="685800" cy="1051560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 flipH="1" flipV="1">
            <a:off x="7955280" y="5212080"/>
            <a:ext cx="685800" cy="1051560"/>
          </a:xfrm>
          <a:prstGeom prst="line">
            <a:avLst/>
          </a:prstGeom>
          <a:noFill/>
          <a:ln w="12700">
            <a:solidFill>
              <a:srgbClr val="4A4D4F"/>
            </a:solidFill>
            <a:prstDash val="solid"/>
            <a:headEnd type="none"/>
            <a:tailEnd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Node process · real-time state broadcast · peer-to-peer video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7680960" cy="1371600"/>
          </a:xfrm>
          <a:prstGeom prst="roundRect">
            <a:avLst>
              <a:gd name="adj" fmla="val 2667"/>
            </a:avLst>
          </a:prstGeom>
          <a:solidFill>
            <a:srgbClr val="F7FAFD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3716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Clients  (multi-tab / multi-device)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app.js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VWR UI (role-based)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conference.js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client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60720" y="17830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Design System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components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7680960" cy="1828800"/>
          </a:xfrm>
          <a:prstGeom prst="roundRect">
            <a:avLst>
              <a:gd name="adj" fmla="val 2000"/>
            </a:avLst>
          </a:prstGeom>
          <a:solidFill>
            <a:srgbClr val="F6F6F6"/>
          </a:solidFill>
          <a:ln w="19050">
            <a:solidFill>
              <a:srgbClr val="1549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91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— Express + Socket.io  (single process)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/directory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/report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9748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Engine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(status machine)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0" y="370332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Signaling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(SDP / ICE relay)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46520" y="370332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9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5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Reporting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7680960" cy="640080"/>
          </a:xfrm>
          <a:prstGeom prst="roundRect">
            <a:avLst>
              <a:gd name="adj" fmla="val 8571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Store  (seeded from IES system of record · resets on demand)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2697480"/>
            <a:ext cx="91" cy="548640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4572000" y="27432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+ Socket.io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(live state snapshots)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89120" y="5074920"/>
            <a:ext cx="91" cy="182880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965960" y="1783080"/>
            <a:ext cx="1325880" cy="91"/>
          </a:xfrm>
          <a:prstGeom prst="line">
            <a:avLst/>
          </a:prstGeom>
          <a:noFill/>
          <a:ln w="25400">
            <a:solidFill>
              <a:srgbClr val="1A8A36"/>
            </a:solidFill>
            <a:prstDash val="dash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822960" y="132588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WebRTC P2P media (mesh) — server only brokers signaling</a:t>
            </a:r>
            <a:endParaRPr lang="en-US" sz="100" dirty="0"/>
          </a:p>
        </p:txBody>
      </p:sp>
      <p:sp>
        <p:nvSpPr>
          <p:cNvPr id="24" name="Shape 22"/>
          <p:cNvSpPr/>
          <p:nvPr/>
        </p:nvSpPr>
        <p:spPr>
          <a:xfrm>
            <a:off x="8503920" y="1325880"/>
            <a:ext cx="3108960" cy="45720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5875">
            <a:solidFill>
              <a:srgbClr val="4A4D4F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[INTEGRATION] Seams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732520" y="1874520"/>
            <a:ext cx="2743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IAM — SAML2 / OAuth / OIDC single sign-on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— read hearing &amp; participant data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IES — write back status / officer / participants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WebEx / CMR — replaced by in-house WebRTC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open, secure REST / WebSocket standards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035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green dashed link = peer-to-peer audio/video between clients.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Flow &amp; User Journey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hearing cannot start until every required party is ready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endParaRPr lang="en-US" sz="12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Ready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457AA5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0" y="1828800"/>
            <a:ext cx="1965960" cy="868680"/>
          </a:xfrm>
          <a:prstGeom prst="roundRect">
            <a:avLst>
              <a:gd name="adj" fmla="val 6316"/>
            </a:avLst>
          </a:prstGeom>
          <a:solidFill>
            <a:srgbClr val="4A4D4F"/>
          </a:solidFill>
          <a:ln w="12700">
            <a:solidFill>
              <a:srgbClr val="4A4D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95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81160" y="226771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20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 / rep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in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06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required parties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92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Judge: Call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Judge: Close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disposition)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3749040"/>
            <a:ext cx="1965960" cy="777240"/>
          </a:xfrm>
          <a:prstGeom prst="roundRect">
            <a:avLst>
              <a:gd name="adj" fmla="val 7059"/>
            </a:avLst>
          </a:prstGeom>
          <a:solidFill>
            <a:srgbClr val="6D4CA8"/>
          </a:solidFill>
          <a:ln w="12700">
            <a:solidFill>
              <a:srgbClr val="6D4CA8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>
            <a:off x="8778240" y="2697480"/>
            <a:ext cx="1280160" cy="1051560"/>
          </a:xfrm>
          <a:prstGeom prst="line">
            <a:avLst/>
          </a:prstGeom>
          <a:noFill/>
          <a:ln w="22225">
            <a:solidFill>
              <a:srgbClr val="6D4CA8"/>
            </a:solidFill>
            <a:prstDash val="dash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 flipV="1">
            <a:off x="7955280" y="2697480"/>
            <a:ext cx="274320" cy="1051560"/>
          </a:xfrm>
          <a:prstGeom prst="line">
            <a:avLst/>
          </a:prstGeom>
          <a:noFill/>
          <a:ln w="22225">
            <a:solidFill>
              <a:srgbClr val="6D4CA8"/>
            </a:solidFill>
            <a:prstDash val="dash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315200" y="4526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D4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a closed hearing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5074920"/>
            <a:ext cx="11247120" cy="36576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212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journey: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SSO login  →  2) Check in  →  3) Set Available  →  4) Hearing turns Ready  →  5) Judge Calls  →  6) Join in-house video  →  7) Close with disposition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Conferencing (WebRTC)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the video — the server only brokers signaling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A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joins room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604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adds to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conf:&lt;hearing&gt;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sends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list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0372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→ Offer (SDP)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server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052560" y="16459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→ Answer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43484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58368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732520" y="2057400"/>
            <a:ext cx="320040" cy="91"/>
          </a:xfrm>
          <a:prstGeom prst="line">
            <a:avLst/>
          </a:prstGeom>
          <a:noFill/>
          <a:ln w="22225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881360" y="1645920"/>
            <a:ext cx="1097280" cy="822960"/>
          </a:xfrm>
          <a:prstGeom prst="roundRect">
            <a:avLst>
              <a:gd name="adj" fmla="val 6667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P2P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881360" y="2057400"/>
            <a:ext cx="91" cy="91"/>
          </a:xfrm>
          <a:prstGeom prst="line">
            <a:avLst/>
          </a:prstGeom>
          <a:noFill/>
          <a:ln w="22225">
            <a:solidFill>
              <a:srgbClr val="1A8A3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2468880"/>
            <a:ext cx="1828800" cy="91"/>
          </a:xfrm>
          <a:prstGeom prst="line">
            <a:avLst/>
          </a:prstGeom>
          <a:noFill/>
          <a:ln w="25400">
            <a:solidFill>
              <a:srgbClr val="1A8A36"/>
            </a:solidFill>
            <a:prstDash val="dash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8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connected, audio/video flow directly peer-to-peer (no server in the media path).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delivered: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Multi-party video + audio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8892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 / unmute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on/off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5236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share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784080" y="384048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In-hearing chat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roster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8892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 mute participant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Host: remove participant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5236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indicator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784080" y="4572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media fallback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57784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7FAFD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suits hearing-sized rooms (≤ ~8). Scale path: add TURN for NAT traversal + an SFU for large rooms.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Involvement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AI built it today — and where AI takes the product next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AI  (today)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 app — backend, real-time engine, WebRTC video, NYSDS UI — built with an AI coding agent.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instead of weeks, from requirements to working demo.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reusable build-prompt (PROMPT.md) regenerates the app in any CLI.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cross-checked design-system tokens &amp; icons for fidelity.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4630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on the Roadmap  (proposed)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52120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transcription &amp; captioning — for the record and accessibility.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translation assist for interpreters.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wait-times to rebalance dockets.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hearing summaries drafted for the judge.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709160"/>
            <a:ext cx="11247120" cy="36576"/>
          </a:xfrm>
          <a:prstGeom prst="rect">
            <a:avLst/>
          </a:prstGeom>
          <a:solidFill>
            <a:srgbClr val="D0D0C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846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already exposes the hooks AI needs: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455A6E"/>
          </a:solidFill>
          <a:ln w="12700">
            <a:solidFill>
              <a:srgbClr val="455A6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streams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structured events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1760" y="565099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1752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(STT / MT / LLM)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0" y="5650992"/>
            <a:ext cx="320040" cy="91"/>
          </a:xfrm>
          <a:prstGeom prst="line">
            <a:avLst/>
          </a:prstGeom>
          <a:noFill/>
          <a:ln w="25400">
            <a:solidFill>
              <a:srgbClr val="154973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57784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457AA5"/>
          </a:solidFill>
          <a:ln w="12700">
            <a:solidFill>
              <a:srgbClr val="457AA5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Interpreter assist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966960" y="52578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6D4CA8"/>
          </a:solidFill>
          <a:ln w="12700">
            <a:solidFill>
              <a:srgbClr val="6D4CA8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Summaries /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Wait-time predict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4434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features are roadmap, not live in the demo.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Design System &amp; Accessibility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On-brand, on-standard, and built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the official NYS Design System (NYSDS): @nysds/styles + @nysds/components.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State-blue theme, NYS gold accent, Proxima Nova type — all via design tokens.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components: nys-unavheader, nys-button, nys-icon, nys-badge, nys-skipnav.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508 / WCAG: skip nav, visible focus, contrast, semantic landmarks.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— multi-device usage (desktop, tablet, phone).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icons (mic/camera/etc.) inlined in the same Material family, since NYSDS omits them.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64592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tokens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154973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Blue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#154973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8388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ACE00"/>
          </a:solidFill>
          <a:ln w="12700">
            <a:solidFill>
              <a:srgbClr val="FACE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Accent Gold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#FACE00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96696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1A8A36"/>
          </a:solidFill>
          <a:ln w="12700">
            <a:solidFill>
              <a:srgbClr val="1A8A36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#1A8A36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33172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#B29200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154680"/>
            <a:ext cx="0" cy="0"/>
          </a:xfrm>
          <a:prstGeom prst="rect">
            <a:avLst/>
          </a:prstGeom>
          <a:noFill/>
          <a:ln/>
        </p:spPr>
      </p:sp>
      <p:sp>
        <p:nvSpPr>
          <p:cNvPr id="14" name="Text 12"/>
          <p:cNvSpPr/>
          <p:nvPr/>
        </p:nvSpPr>
        <p:spPr>
          <a:xfrm>
            <a:off x="640080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B29200"/>
          </a:solidFill>
          <a:ln w="12700">
            <a:solidFill>
              <a:srgbClr val="B2920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#B29200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8388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D22730"/>
          </a:solidFill>
          <a:ln w="12700">
            <a:solidFill>
              <a:srgbClr val="D22730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#D22730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966960" y="320040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</a:t>
            </a:r>
            <a:endParaRPr lang="en-US" sz="10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#FFFFFF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4297680"/>
            <a:ext cx="5257800" cy="1554480"/>
          </a:xfrm>
          <a:prstGeom prst="roundRect">
            <a:avLst>
              <a:gd name="adj" fmla="val 3529"/>
            </a:avLst>
          </a:prstGeom>
          <a:solidFill>
            <a:srgbClr val="F7FAFD"/>
          </a:solidFill>
          <a:ln w="12700">
            <a:solidFill>
              <a:srgbClr val="154973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roles · 6-state status machine · live multi-tab sync · audit log · reporting — all delivered in a single, dependency-light app.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— Who This Really Helps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generic tool — it touches real New Yorkers at a vulnerable moment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72184"/>
            <a:ext cx="118872" cy="1673352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Appellants &amp; families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Vulnerable New Yorkers appealing Medicaid, SNAP, child care &amp; temporary assistance — clarity not anxiety, no wasted trips, guaranteed interpreter, 508-accessible. Access to justice.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15968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5968" y="1472184"/>
            <a:ext cx="118872" cy="1673352"/>
          </a:xfrm>
          <a:prstGeom prst="rect">
            <a:avLst/>
          </a:prstGeom>
          <a:solidFill>
            <a:srgbClr val="457AA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Representatives &amp; advocates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aid &amp; reps see readiness in real time, manage multiple hearings, and stop losing days to adjournments from a missing party.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41732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3296" y="1472184"/>
            <a:ext cx="118872" cy="1673352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15" name="Text 13"/>
          <p:cNvSpPr/>
          <p:nvPr/>
        </p:nvSpPr>
        <p:spPr>
          <a:xfrm>
            <a:off x="8339328" y="152704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Hearing Officers (ALJs)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roster + readiness gate; focus on one hearing at a time; start on time instead of waiting in a blank room.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8144"/>
            <a:ext cx="118872" cy="1673352"/>
          </a:xfrm>
          <a:prstGeom prst="rect">
            <a:avLst/>
          </a:prstGeom>
          <a:solidFill>
            <a:srgbClr val="1A8A3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Supervisors &amp; clerks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Day-wide oversight to rebalance dockets, with live metrics and a full audit trail for compliance.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315968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15968" y="3438144"/>
            <a:ext cx="118872" cy="1673352"/>
          </a:xfrm>
          <a:prstGeom prst="rect">
            <a:avLst/>
          </a:prstGeom>
          <a:solidFill>
            <a:srgbClr val="6D4CA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(OTDA / DOH / OCFS) &amp; ITS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= no vendor lock-in, a complete audit record, and clean integration with IES and ITS IAM.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83296" y="3383280"/>
            <a:ext cx="35661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83296" y="3438144"/>
            <a:ext cx="118872" cy="1673352"/>
          </a:xfrm>
          <a:prstGeom prst="rect">
            <a:avLst/>
          </a:prstGeom>
          <a:solidFill>
            <a:srgbClr val="B29200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3493008"/>
            <a:ext cx="3154680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549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York State &amp; taxpayers
</a:t>
            </a:r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throughput, fewer no-shows &amp; adjournments, and lower third-party conferencing cost.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better outcomes for the New Yorker on the other side of the screen — and a real tool for the people who serve them.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497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Plans / Roadmap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demo to production NYS system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NYS Virtual Waiting Room  ·  Hackathon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789920" y="1325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4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627632"/>
            <a:ext cx="11091672" cy="91"/>
          </a:xfrm>
          <a:prstGeom prst="line">
            <a:avLst/>
          </a:prstGeom>
          <a:noFill/>
          <a:ln w="38100">
            <a:solidFill>
              <a:srgbClr val="FACE0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2606040" cy="548640"/>
          </a:xfrm>
          <a:prstGeom prst="rect">
            <a:avLst/>
          </a:prstGeom>
          <a:solidFill>
            <a:srgbClr val="15497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Productionize &amp; Integrate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ITS IAM SSO (SAML2 / OIDC)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IES read + write-back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/ calendar sync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persistence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74136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828800"/>
            <a:ext cx="2606040" cy="548640"/>
          </a:xfrm>
          <a:prstGeom prst="rect">
            <a:avLst/>
          </a:prstGeom>
          <a:solidFill>
            <a:srgbClr val="457AA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Scale &amp; Record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57016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server (cross-network)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SFU for large hearings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recording to NYS storage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High-availability + load testing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99632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9632" y="1828800"/>
            <a:ext cx="2606040" cy="548640"/>
          </a:xfrm>
          <a:prstGeom prst="rect">
            <a:avLst/>
          </a:prstGeom>
          <a:solidFill>
            <a:srgbClr val="FACE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AI-Augment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82512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captions / transcription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assist for interpreters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hearing summaries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wait-times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25128" y="1828800"/>
            <a:ext cx="2606040" cy="3520440"/>
          </a:xfrm>
          <a:prstGeom prst="roundRect">
            <a:avLst>
              <a:gd name="adj" fmla="val 1404"/>
            </a:avLst>
          </a:prstGeom>
          <a:solidFill>
            <a:srgbClr val="FFFFFF"/>
          </a:solidFill>
          <a:ln w="12700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5128" y="1828800"/>
            <a:ext cx="2606040" cy="548640"/>
          </a:xfrm>
          <a:prstGeom prst="rect">
            <a:avLst/>
          </a:prstGeom>
          <a:solidFill>
            <a:srgbClr val="1A8A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Expand &amp; Optimize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08008" y="2514600"/>
            <a:ext cx="228600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/ email notifications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mobile apps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UI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docket optimization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E324F"/>
          </a:solidFill>
          <a:ln w="12700">
            <a:solidFill>
              <a:srgbClr val="0E324F"/>
            </a:solidFill>
            <a:prstDash val="solid"/>
          </a:ln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(every phase): security &amp; compliance (WORM audit · encryption · retention · consent · pen-testing)  ·  WCAG 2.2 AA  ·  24/7 monitoring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9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12191695" cy="64008"/>
          </a:xfrm>
          <a:prstGeom prst="rect">
            <a:avLst/>
          </a:prstGeom>
          <a:solidFill>
            <a:srgbClr val="FACE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justice,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DDD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fairer, more transparent fair hearings for New Yorkers — and the oversight tools the staff who run them have never had.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system — on NYS standards — ready to integrate with IAM, IES &amp; conferencing.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In-house video means no vendor lock-in for virtual hearings.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AI-built today; AI-augmented tomorrow (transcription, translation, summaries).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C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NYS Virtual Waiting Room   ·   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NYS 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NYS Virtual Waiting Room</dc:title>
  <dc:subject>PptxGenJS Presentation</dc:subject>
  <dc:creator>Hackathon Team</dc:creator>
  <cp:lastModifiedBy>Hackathon Team</cp:lastModifiedBy>
  <cp:revision>1</cp:revision>
  <dcterms:created xsi:type="dcterms:W3CDTF">2026-06-04T23:12:06Z</dcterms:created>
  <dcterms:modified xsi:type="dcterms:W3CDTF">2026-06-04T23:12:06Z</dcterms:modified>
</cp:coreProperties>
</file>